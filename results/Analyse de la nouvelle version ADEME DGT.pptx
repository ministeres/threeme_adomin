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3" r:id="rId5"/>
    <p:sldId id="264" r:id="rId6"/>
    <p:sldId id="259" r:id="rId7"/>
    <p:sldId id="265" r:id="rId8"/>
    <p:sldId id="261" r:id="rId9"/>
    <p:sldId id="266" r:id="rId10"/>
    <p:sldId id="267" r:id="rId11"/>
    <p:sldId id="268" r:id="rId12"/>
    <p:sldId id="269" r:id="rId13"/>
    <p:sldId id="270" r:id="rId14"/>
    <p:sldId id="275" r:id="rId15"/>
    <p:sldId id="273" r:id="rId16"/>
    <p:sldId id="274" r:id="rId17"/>
    <p:sldId id="276" r:id="rId18"/>
    <p:sldId id="277" r:id="rId19"/>
    <p:sldId id="278" r:id="rId20"/>
    <p:sldId id="279" r:id="rId21"/>
    <p:sldId id="271" r:id="rId22"/>
    <p:sldId id="272" r:id="rId23"/>
    <p:sldId id="280" r:id="rId24"/>
    <p:sldId id="282" r:id="rId25"/>
    <p:sldId id="281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9BD1E-5DE9-45C9-B1C2-AD51D248A1BA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0B257-6255-4463-BA8A-A63AA4E001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206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L’option PYQ entraîne un léger déséquilibre comptable, décroissant dans le temps. A régler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0B257-6255-4463-BA8A-A63AA4E0010F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9076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C44A1-7BAE-5324-3273-1E1EA2070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457E806-18D6-504A-1413-31725854A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D2CFF40-5420-3044-514D-94434164E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L’option PYQ entraîne un léger déséquilibre comptable, décroissant dans le temps. A régler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Pas de différence sur les résultats macro en revanche grosse différence en terme de bilan énergétique. 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261A65-30B4-0BDD-4DE1-C5DC1D51A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0B257-6255-4463-BA8A-A63AA4E0010F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9671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BA2CDD-83EC-3A38-2C74-DE2FAB211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489E4DF-F311-7969-2CEB-0CC7CF96E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8D4DFB-BD27-6A81-A76F-AAC21C05E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0CE88-98A1-4A87-9EC2-9C6F13574C56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5F224D-3E42-DA75-32B1-F5C42908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D2DF87-7D4C-7FFF-65DD-7173A485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CF292-A122-4F01-899F-A9D08D4E89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297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50F8C0-E674-132A-2621-66410EB5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313CC5-A515-BADF-648E-E73470555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4039E7-88F5-9EB4-21D7-E6D1C30FE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0CE88-98A1-4A87-9EC2-9C6F13574C56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7454D3-E6E2-9188-5456-AC005F0D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1027DB-5E1E-E8A7-64B6-17CCC3A24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CF292-A122-4F01-899F-A9D08D4E89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8420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DC99A4-3DB0-E56E-19DD-6E3349C4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7AE1D6-B97B-65C8-954F-3C9F95F42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7F46C8-8852-EA29-60FA-0173948E5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0CE88-98A1-4A87-9EC2-9C6F13574C56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2FF65D-B2CD-68EA-1214-5845BA546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C9C419-6E44-B5A1-699E-54B2A893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CF292-A122-4F01-899F-A9D08D4E89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720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D2A83F-C985-987A-92B7-BAC01DB10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B66228-41B0-D078-CD7F-02E7C63EED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981241-AF29-1002-8DB1-F8F5EDCB2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776AB2-309D-26A9-F018-F419C67F3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0CE88-98A1-4A87-9EC2-9C6F13574C56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634574-91F2-A559-FF2C-096BF9316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E7E4388-4436-267F-F434-F6BF9C4C0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CF292-A122-4F01-899F-A9D08D4E89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2875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67A710-FFB5-344D-6399-CC69C8BC1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A513F3-A2CF-CAE9-1B2B-80154647F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130D9A3-EA69-262E-A590-F581310C8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6D54481-239C-81FB-627A-0386BE7114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22BCB9E-492A-5006-0443-C98C3F60D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F00DBF0-E96A-2272-92D3-2DDC8CAF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0CE88-98A1-4A87-9EC2-9C6F13574C56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FF8B7E7-B961-66F3-D91E-7679D96FB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81B65F4-6843-F4BC-5522-521FAF79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CF292-A122-4F01-899F-A9D08D4E89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8431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03C170-23A4-4DAD-C41E-9BFA222F9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F5475F7-4872-F7B4-81DF-657711DE4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0CE88-98A1-4A87-9EC2-9C6F13574C56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5A2F4AC-D631-70A4-5116-0CA8578B7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57C820A-6022-80AE-E8C3-AD1778895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CF292-A122-4F01-899F-A9D08D4E89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586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36679A4-E7E7-1D3F-CCD4-961F74F76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0CE88-98A1-4A87-9EC2-9C6F13574C56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D5D599B-A98C-4269-DE3E-A9F02F701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CA00AC-8FB3-12CE-F35F-2B53A95DB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CF292-A122-4F01-899F-A9D08D4E89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564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77BD67-16F6-F693-FBE6-95670DBE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AEB9B7-0E11-791D-0E1D-9FD31FE19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AAF657F-77B4-6DE3-257A-28C08BB65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4F21CD-2800-3BB6-577E-3C94E4EB7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0CE88-98A1-4A87-9EC2-9C6F13574C56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861FE5-2927-E483-0021-0CFB4B71A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7B2D4C-E832-A30D-1CFF-6C6EF0EF0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CF292-A122-4F01-899F-A9D08D4E89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443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CEF7E4-6881-BE3E-A034-24C3318B7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EA6DA38-13DD-9996-0179-38D8B00F3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ACADB28-A407-3F5B-D447-9BDB2643C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DCD7A5-8074-EC5A-A094-AA4E4B401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0CE88-98A1-4A87-9EC2-9C6F13574C56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A101791-E009-506B-C1E5-44160558A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8099E7-5252-2990-7C58-2F7D6FCD3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CF292-A122-4F01-899F-A9D08D4E89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7444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700732-4C96-3BE6-8231-BDA3E7C3F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0E8C82D-680B-8A4B-3829-845931C40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9D5A5E-B776-2B65-B752-F25FB4719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0CE88-98A1-4A87-9EC2-9C6F13574C56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59D468-0344-B4F5-24F8-208E7551C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DE50F1-FEE4-E5DA-6704-F135C6499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CF292-A122-4F01-899F-A9D08D4E89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1408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1389C8-E23B-62EC-BE01-6E16711861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F8D8D3-89A8-6E8A-8CD8-2C6A35D7E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64E985-8D4E-EB12-FA31-8C6171A9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0CE88-98A1-4A87-9EC2-9C6F13574C56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00034A-DBA4-5BE4-4BDB-A1F309F06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2136B5-F865-E669-25CA-93988A9D0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CF292-A122-4F01-899F-A9D08D4E89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034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9D28082-B921-B186-C44A-2F5A31DAB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A44872-A662-2229-1B82-06AFF9237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10D114-CA72-A08A-6423-D629D876C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0CE88-98A1-4A87-9EC2-9C6F13574C56}" type="datetimeFigureOut">
              <a:rPr lang="fr-FR" smtClean="0"/>
              <a:t>02/06/2025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2A887E-1771-3FFC-5BFC-C0D25C4BA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C05E5A-A1EF-8CAF-61FE-E97D5E27A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CF292-A122-4F01-899F-A9D08D4E89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88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6DBC7-11B9-3D7D-6EAE-C465E9BE91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Analyse de la nouvelle version</a:t>
            </a:r>
            <a:br>
              <a:rPr lang="fr-FR" dirty="0"/>
            </a:br>
            <a:endParaRPr lang="fr-FR" sz="20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18E2CC8-45E0-0EFE-063B-7CC9B8C413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sz="2400" dirty="0"/>
              <a:t>après fusion des branches et corrections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787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8CD687-EBD0-ACD1-275F-CFC494EF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exception DGT version du 16/04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929A4B-7912-A549-482F-83B0FCCF4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9134"/>
            <a:ext cx="10515600" cy="4857829"/>
          </a:xfrm>
        </p:spPr>
        <p:txBody>
          <a:bodyPr/>
          <a:lstStyle/>
          <a:p>
            <a:r>
              <a:rPr lang="fr-FR" dirty="0"/>
              <a:t>Note : pas de fonds chaleur et investissement ferroviaire sous estimé. </a:t>
            </a:r>
            <a:r>
              <a:rPr lang="fr-FR" sz="2000" dirty="0"/>
              <a:t>Léger déséquilibre comptable (après incorporation des corrections ADEME du 24/05)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9D22CCC-720B-6108-81DE-7A8DB6B52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09" y="2444255"/>
            <a:ext cx="6023802" cy="393697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AFB1708-2931-AFAC-1687-99B3FD0A8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100" y="2644696"/>
            <a:ext cx="4962272" cy="324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89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2DDD0F-CC05-AAEE-BEE6-C10601BBE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995383F-805A-CA08-D7DD-CE9A465C5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1796" y="1825625"/>
            <a:ext cx="76884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03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F16D2-0206-8C17-0086-3AF41A4B7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94DC8-E630-7D0F-0E04-3983BCC8D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exception DGT version du 16/04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0DB5ED-ACBC-F3F0-4CD4-71ED29447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9134"/>
            <a:ext cx="10515600" cy="4857829"/>
          </a:xfrm>
        </p:spPr>
        <p:txBody>
          <a:bodyPr/>
          <a:lstStyle/>
          <a:p>
            <a:r>
              <a:rPr lang="fr-FR" dirty="0"/>
              <a:t>Gel des équations d’investissement du secteur énergétique. (lignes 688-702) </a:t>
            </a:r>
            <a:r>
              <a:rPr lang="fr-FR" sz="2000" dirty="0"/>
              <a:t>Léger déséquilibre comptable (après incorporation des corrections ADEME du 24/05)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2CFCC77-7F42-E689-AA96-C7AEF24CC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20" y="2634282"/>
            <a:ext cx="5903880" cy="385859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D688610-208C-9463-E2BB-00D331C15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874" y="2644697"/>
            <a:ext cx="5399170" cy="353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034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BEE708-692C-2D90-15AA-D707D6F7A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Gel des équations d’investissement du secteur énergétique. (</a:t>
            </a:r>
            <a:r>
              <a:rPr lang="fr-FR" dirty="0" err="1"/>
              <a:t>lignesn</a:t>
            </a:r>
            <a:r>
              <a:rPr lang="fr-FR" dirty="0"/>
              <a:t> 688-702) </a:t>
            </a:r>
            <a:r>
              <a:rPr lang="fr-FR" sz="4400" dirty="0"/>
              <a:t>Léger déséquilibre comptable (après incorporation des corrections ADEME du 24/05)</a:t>
            </a:r>
            <a:br>
              <a:rPr lang="fr-FR" sz="4400" dirty="0"/>
            </a:br>
            <a:endParaRPr lang="fr-FR" dirty="0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B9CA6FF0-79AA-552C-D444-11691B240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1796" y="1825625"/>
            <a:ext cx="76884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6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92B2ABD-7839-F7E2-85D2-3FBDD2C77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exception DGT version du 16/04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E39994C-8712-9B33-2132-7BD416563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095"/>
            <a:ext cx="10515600" cy="4797868"/>
          </a:xfrm>
        </p:spPr>
        <p:txBody>
          <a:bodyPr/>
          <a:lstStyle/>
          <a:p>
            <a:r>
              <a:rPr lang="fr-FR" dirty="0"/>
              <a:t>Avec correction investissement ferroviaire</a:t>
            </a:r>
          </a:p>
          <a:p>
            <a:r>
              <a:rPr lang="fr-FR" dirty="0" err="1"/>
              <a:t>Degel</a:t>
            </a:r>
            <a:r>
              <a:rPr lang="fr-FR" dirty="0"/>
              <a:t> des lignes 1462-82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44E6B3D-A48A-C526-D591-C8A62D0D0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123" y="2723317"/>
            <a:ext cx="5761877" cy="376955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909E5D0-B1A0-18C6-034C-6DFF6C158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20" y="2572719"/>
            <a:ext cx="6177324" cy="403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682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D6A7AE-C993-E0D0-1DA4-CEF356A13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FF7DE332-7E7D-08D7-C2A7-7FD0EE65A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1796" y="1825625"/>
            <a:ext cx="76884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506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227925-BBBD-6A9D-F61C-7F6FEC038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exception DGT version du 16/04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CC8AF2-19B4-1795-353E-84A31A43B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fr-FR" dirty="0"/>
              <a:t>Avec correction I_MDE </a:t>
            </a:r>
            <a:r>
              <a:rPr lang="fr-FR" dirty="0" err="1"/>
              <a:t>degel</a:t>
            </a:r>
            <a:r>
              <a:rPr lang="fr-FR" dirty="0"/>
              <a:t> des lignes 1482-1642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4D56EAA-EFEC-FC33-9957-A74E23D85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609" y="2224801"/>
            <a:ext cx="6190529" cy="404999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E50DD5B-FD24-4A0D-5163-5C1526B9A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8414"/>
            <a:ext cx="6313610" cy="412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53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D7B903-32C7-EE50-7531-423D3DF40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1A2AC8F4-D867-8006-6BF1-CD2052C9A2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1796" y="1825625"/>
            <a:ext cx="76884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47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2DD86-FA71-7023-926C-3149193AD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E53224-4C7D-08DE-28EF-C8BE4DD9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exception DGT version du 16/04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C427B5-7EAA-77B1-8901-28F7BF14D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100974"/>
          </a:xfrm>
        </p:spPr>
        <p:txBody>
          <a:bodyPr/>
          <a:lstStyle/>
          <a:p>
            <a:r>
              <a:rPr lang="fr-FR" dirty="0"/>
              <a:t>Avec introduction du fonds chaleur (version corrigée) </a:t>
            </a:r>
            <a:r>
              <a:rPr lang="fr-FR" dirty="0" err="1"/>
              <a:t>degel</a:t>
            </a:r>
            <a:r>
              <a:rPr lang="fr-FR" dirty="0"/>
              <a:t> des lignes 1643-1770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DD1B8D7-32D5-EE45-AEA8-1F21ED8DC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477" y="2597553"/>
            <a:ext cx="5954111" cy="389532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74EBA32-FEC0-165D-337F-93875D478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23" y="2578894"/>
            <a:ext cx="5960077" cy="389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70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24A9A-FAF8-8A3C-9D0A-A2D959A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D70D0BD3-97C6-0B74-2B03-08330C572A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1796" y="1825625"/>
            <a:ext cx="76884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703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D1E23-FA54-3BD6-C2E3-23A161E8B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9C32B0-6A5E-946D-C02F-A637BC54A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exception DGT version du 16/04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884391-5B20-2781-78EE-3FA216131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100974"/>
          </a:xfrm>
        </p:spPr>
        <p:txBody>
          <a:bodyPr/>
          <a:lstStyle/>
          <a:p>
            <a:r>
              <a:rPr lang="fr-FR" dirty="0"/>
              <a:t>Avec Option CEE ADEME (version corrigée) Option CU et CK </a:t>
            </a:r>
            <a:r>
              <a:rPr lang="fr-FR" sz="2000" dirty="0" err="1"/>
              <a:t>degel</a:t>
            </a:r>
            <a:r>
              <a:rPr lang="fr-FR" sz="2000" dirty="0"/>
              <a:t> des lignes 1911-1941 _ 1975-2030 _2100-2114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86B5279-9F9F-4B07-2CF6-8569BBA7B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181" y="2398426"/>
            <a:ext cx="5748791" cy="376099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F3955E7-9FEA-C896-1338-63918855D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59" y="2398426"/>
            <a:ext cx="5754551" cy="376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818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BABDF4-A9BB-346D-3A6B-02A126B8D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04803C13-DBB2-37FE-EA1D-A7A6B14DF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1796" y="1825625"/>
            <a:ext cx="76884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02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717985-27DD-E212-73F3-F6D86B769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2D75428D-BB0E-B13D-2D86-0F6AC0486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9862" y="2839244"/>
            <a:ext cx="67722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377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6B00E-C447-B7F2-BE9A-9700D9E7B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67499C-28B4-0109-FB3E-5862EACE9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exception DGT version du 16/04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6288C8-AA46-B020-B27A-A6825C2BC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100974"/>
          </a:xfrm>
        </p:spPr>
        <p:txBody>
          <a:bodyPr/>
          <a:lstStyle/>
          <a:p>
            <a:r>
              <a:rPr lang="fr-FR" dirty="0"/>
              <a:t>Avec Option CEE ADEME (version corrigée) Option PYQ et CK </a:t>
            </a:r>
            <a:r>
              <a:rPr lang="fr-FR" sz="2000" dirty="0"/>
              <a:t>gel des lignes 1911-1941 et dégel des lignes 1953-1972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755C599-0E75-66E7-7915-CFCC6D0E2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859" y="2411898"/>
            <a:ext cx="6115395" cy="400083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41AA65E-04C2-0B1A-3CA1-CAE3B893A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68" y="2411898"/>
            <a:ext cx="6121523" cy="400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27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1CBC1A-5AC0-244D-E624-BA152C5FB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7FE5F9EB-4DB9-D50B-0AEC-406F439CF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1796" y="1825625"/>
            <a:ext cx="76884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174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8C881D-FC88-EA71-D457-ED2BBF0E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C507CC-53F2-3AC4-8B6A-2CFE1C7CF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7CED1B5-F0F4-303F-127F-A134BEF2E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862" y="2266950"/>
            <a:ext cx="67722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1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FEEC5-7831-D01F-C7E2-E67BCEF01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F87708-47E9-3C37-3C93-4FED0E49B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exception DGT version du 16/04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E6945B-8598-C477-A942-82F88AC7E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100974"/>
          </a:xfrm>
        </p:spPr>
        <p:txBody>
          <a:bodyPr/>
          <a:lstStyle/>
          <a:p>
            <a:r>
              <a:rPr lang="fr-FR" dirty="0"/>
              <a:t>Avec Option CEE ADEME (version corrigée) Option PYQ et </a:t>
            </a:r>
            <a:r>
              <a:rPr lang="fr-FR" dirty="0" err="1"/>
              <a:t>CK_m</a:t>
            </a:r>
            <a:r>
              <a:rPr lang="fr-FR" dirty="0"/>
              <a:t> </a:t>
            </a:r>
            <a:r>
              <a:rPr lang="fr-FR" sz="2000" dirty="0"/>
              <a:t>gel des lignes 2098-2114 et dégel des lignes 2115 -2140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7E976E-371A-85D2-5AAD-4295FB70A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5" y="2233544"/>
            <a:ext cx="6305013" cy="412076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70CB610-556D-C557-00D4-42F9D379E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188" y="2452221"/>
            <a:ext cx="5630189" cy="368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46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FBAC28-9231-D54A-465F-E6F9CF7F8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97AB960-3AEC-29C2-D469-43D5FC6B0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1796" y="1825625"/>
            <a:ext cx="76884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64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3AD704-0756-016B-3BDC-5FA8D9158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DACECFD-71F1-91C8-44DB-006BBEBCF0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9862" y="2839244"/>
            <a:ext cx="67722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90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248F1A-08BC-3FFC-8226-AFA67D86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272E2E-293F-E21B-DCF2-CE207F416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203"/>
            <a:ext cx="10515600" cy="4962760"/>
          </a:xfrm>
        </p:spPr>
        <p:txBody>
          <a:bodyPr>
            <a:normAutofit/>
          </a:bodyPr>
          <a:lstStyle/>
          <a:p>
            <a:r>
              <a:rPr lang="fr-FR" dirty="0"/>
              <a:t>Avec Option CEE ADEME (version corrigée) Option CU-CK  et PYQ_CK équivalentes</a:t>
            </a:r>
          </a:p>
          <a:p>
            <a:r>
              <a:rPr lang="fr-FR" dirty="0"/>
              <a:t>Cette version correspond grosso modo aux modalités retenues par le trésor, corrigée du déséquilibre comptable </a:t>
            </a:r>
            <a:r>
              <a:rPr lang="fr-FR" sz="2000" dirty="0"/>
              <a:t>(cf. modification des équations EBE et PEBE) </a:t>
            </a:r>
            <a:r>
              <a:rPr lang="fr-FR" dirty="0"/>
              <a:t>avec code allégé et insertion des chocs simplifiée</a:t>
            </a:r>
          </a:p>
          <a:p>
            <a:r>
              <a:rPr lang="fr-FR" dirty="0"/>
              <a:t>Les </a:t>
            </a:r>
            <a:r>
              <a:rPr lang="fr-FR" dirty="0" err="1"/>
              <a:t>resultats</a:t>
            </a:r>
            <a:r>
              <a:rPr lang="fr-FR" dirty="0"/>
              <a:t> macro sont identiques</a:t>
            </a:r>
          </a:p>
          <a:p>
            <a:pPr marL="0" indent="0">
              <a:buNone/>
            </a:pPr>
            <a:r>
              <a:rPr lang="fr-FR" dirty="0"/>
              <a:t> L’option </a:t>
            </a:r>
            <a:r>
              <a:rPr lang="fr-FR" dirty="0" err="1"/>
              <a:t>CK_m</a:t>
            </a:r>
            <a:r>
              <a:rPr lang="fr-FR" dirty="0"/>
              <a:t> provoque une hausse de la consommation énergétique de 10 Mtep de 2015 jusqu’en 2050. Les bilans ne coïncident plus. </a:t>
            </a:r>
          </a:p>
          <a:p>
            <a:pPr marL="0" indent="0">
              <a:buNone/>
            </a:pPr>
            <a:r>
              <a:rPr lang="fr-FR" dirty="0"/>
              <a:t>Recommandation : Option CEE_ADEME PYQ sous option CK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9011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222348-F6D2-B4C3-E70D-8BA1376FD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To do </a:t>
            </a:r>
            <a:r>
              <a:rPr lang="fr-FR" dirty="0" err="1"/>
              <a:t>list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EC472E-03C8-49CE-A384-090A1C623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Insérer la bonne chronique de CEE_VAL (Trésor)</a:t>
            </a:r>
          </a:p>
          <a:p>
            <a:r>
              <a:rPr lang="fr-FR" dirty="0"/>
              <a:t>caler le choc CEE sur INV et </a:t>
            </a:r>
            <a:r>
              <a:rPr lang="fr-FR" dirty="0" err="1"/>
              <a:t>E_oth</a:t>
            </a:r>
            <a:r>
              <a:rPr lang="fr-FR" dirty="0"/>
              <a:t> en fonction des données observées. </a:t>
            </a:r>
          </a:p>
          <a:p>
            <a:pPr lvl="1"/>
            <a:r>
              <a:rPr lang="fr-FR" dirty="0"/>
              <a:t>L’option existe. </a:t>
            </a:r>
            <a:r>
              <a:rPr lang="fr-FR" dirty="0" err="1"/>
              <a:t>Crtl</a:t>
            </a:r>
            <a:r>
              <a:rPr lang="fr-FR" dirty="0"/>
              <a:t> comptable OK mais résultats non fiables. (trésor)</a:t>
            </a:r>
          </a:p>
          <a:p>
            <a:r>
              <a:rPr lang="fr-FR" dirty="0"/>
              <a:t>Mettre la conditionnalité sur </a:t>
            </a:r>
            <a:r>
              <a:rPr lang="fr-FR" dirty="0" err="1"/>
              <a:t>Q_Mtep_FC</a:t>
            </a:r>
            <a:r>
              <a:rPr lang="fr-FR" dirty="0"/>
              <a:t> à 2% et non 5% (Gaël)</a:t>
            </a:r>
          </a:p>
          <a:p>
            <a:r>
              <a:rPr lang="fr-FR" dirty="0"/>
              <a:t>Recaler le crédit d’impôt à l’industrie pour atteindre les cibles en 2050 si besoin. (Lucie)</a:t>
            </a:r>
          </a:p>
          <a:p>
            <a:r>
              <a:rPr lang="fr-FR" dirty="0"/>
              <a:t>Réduire la conso de fioul des VP en 2050 (Florian)</a:t>
            </a:r>
          </a:p>
          <a:p>
            <a:r>
              <a:rPr lang="fr-FR" dirty="0"/>
              <a:t>Recaler le transport modal en 2030 et 2050 (Lucie)</a:t>
            </a:r>
          </a:p>
          <a:p>
            <a:r>
              <a:rPr lang="fr-FR" dirty="0"/>
              <a:t>Recaler l’industrie (Martin) et le résidentiel en 2050 ( Alma)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3599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F65DE4-0655-46EE-62A8-28543075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sans choc sur coef technique et demande finale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EC8886A4-C64A-5A20-573B-FFF8ADEE5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1796" y="1825625"/>
            <a:ext cx="76884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17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1DCCFD-B09E-079B-ECCB-BA1E8EF21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sans choc sur coef technique et demande finale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2E0E3FBD-CDD4-C442-0B34-9E1AACC44D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601" y="1810635"/>
            <a:ext cx="5991116" cy="391560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C60A1AB-CF6B-E6AB-CC4D-8C8238218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096" y="1930582"/>
            <a:ext cx="5801777" cy="379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57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53793E-4C51-288C-1D3D-F9FC49AA9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B3BF3A0E-6FBB-D6EA-AEE0-7D3EDA5759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9862" y="2839244"/>
            <a:ext cx="67722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5735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503</Words>
  <Application>Microsoft Office PowerPoint</Application>
  <PresentationFormat>Grand écran</PresentationFormat>
  <Paragraphs>41</Paragraphs>
  <Slides>25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Thème Office</vt:lpstr>
      <vt:lpstr>Analyse de la nouvelle version </vt:lpstr>
      <vt:lpstr>Résultats exception DGT version du 16/04</vt:lpstr>
      <vt:lpstr>Présentation PowerPoint</vt:lpstr>
      <vt:lpstr>Résultats exception DGT version du 16/04</vt:lpstr>
      <vt:lpstr>Gel des équations d’investissement du secteur énergétique. (lignesn 688-702) Léger déséquilibre comptable (après incorporation des corrections ADEME du 24/05) </vt:lpstr>
      <vt:lpstr>Résultats exception DGT version du 16/04</vt:lpstr>
      <vt:lpstr>Présentation PowerPoint</vt:lpstr>
      <vt:lpstr>Résultats exception DGT version du 16/04</vt:lpstr>
      <vt:lpstr>Présentation PowerPoint</vt:lpstr>
      <vt:lpstr>Résultats exception DGT version du 16/04</vt:lpstr>
      <vt:lpstr>Présentation PowerPoint</vt:lpstr>
      <vt:lpstr>Résultats exception DGT version du 16/04</vt:lpstr>
      <vt:lpstr>Présentation PowerPoint</vt:lpstr>
      <vt:lpstr>Présentation PowerPoint</vt:lpstr>
      <vt:lpstr>Résultats exception DGT version du 16/04</vt:lpstr>
      <vt:lpstr>Présentation PowerPoint</vt:lpstr>
      <vt:lpstr>Présentation PowerPoint</vt:lpstr>
      <vt:lpstr>Résultats exception DGT version du 16/04</vt:lpstr>
      <vt:lpstr>Présentation PowerPoint</vt:lpstr>
      <vt:lpstr>Présentation PowerPoint</vt:lpstr>
      <vt:lpstr>Présentation PowerPoint</vt:lpstr>
      <vt:lpstr>To do list</vt:lpstr>
      <vt:lpstr>Test sans choc sur coef technique et demande finale</vt:lpstr>
      <vt:lpstr>Test sans choc sur coef technique et demande finale</vt:lpstr>
      <vt:lpstr>Présentation PowerPoint</vt:lpstr>
    </vt:vector>
  </TitlesOfParts>
  <Company>ADEME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CALLONNEC Gaël</dc:creator>
  <cp:lastModifiedBy>CALLONNEC Gaël</cp:lastModifiedBy>
  <cp:revision>9</cp:revision>
  <dcterms:created xsi:type="dcterms:W3CDTF">2025-05-31T19:59:16Z</dcterms:created>
  <dcterms:modified xsi:type="dcterms:W3CDTF">2025-06-02T10:42:24Z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8ce3bfb-fff1-481a-835b-0a342757958d_Enabled">
    <vt:lpwstr>true</vt:lpwstr>
  </property>
  <property fmtid="{D5CDD505-2E9C-101B-9397-08002B2CF9AE}" pid="3" name="MSIP_Label_98ce3bfb-fff1-481a-835b-0a342757958d_SetDate">
    <vt:lpwstr>2025-05-31T23:30:44Z</vt:lpwstr>
  </property>
  <property fmtid="{D5CDD505-2E9C-101B-9397-08002B2CF9AE}" pid="4" name="MSIP_Label_98ce3bfb-fff1-481a-835b-0a342757958d_Method">
    <vt:lpwstr>Standard</vt:lpwstr>
  </property>
  <property fmtid="{D5CDD505-2E9C-101B-9397-08002B2CF9AE}" pid="5" name="MSIP_Label_98ce3bfb-fff1-481a-835b-0a342757958d_Name">
    <vt:lpwstr>C0 - Public</vt:lpwstr>
  </property>
  <property fmtid="{D5CDD505-2E9C-101B-9397-08002B2CF9AE}" pid="6" name="MSIP_Label_98ce3bfb-fff1-481a-835b-0a342757958d_SiteId">
    <vt:lpwstr>cb6c2492-4a85-4b15-85a1-ed94d47e5849</vt:lpwstr>
  </property>
  <property fmtid="{D5CDD505-2E9C-101B-9397-08002B2CF9AE}" pid="7" name="MSIP_Label_98ce3bfb-fff1-481a-835b-0a342757958d_ActionId">
    <vt:lpwstr>95c8a29b-3d26-42d6-baaa-c1696138cd3a</vt:lpwstr>
  </property>
  <property fmtid="{D5CDD505-2E9C-101B-9397-08002B2CF9AE}" pid="8" name="MSIP_Label_98ce3bfb-fff1-481a-835b-0a342757958d_ContentBits">
    <vt:lpwstr>0</vt:lpwstr>
  </property>
  <property fmtid="{D5CDD505-2E9C-101B-9397-08002B2CF9AE}" pid="9" name="MSIP_Label_98ce3bfb-fff1-481a-835b-0a342757958d_Tag">
    <vt:lpwstr>10, 3, 0, 1</vt:lpwstr>
  </property>
</Properties>
</file>